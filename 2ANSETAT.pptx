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95" r:id="rId3"/>
    <p:sldId id="416" r:id="rId4"/>
    <p:sldId id="360" r:id="rId5"/>
    <p:sldId id="417" r:id="rId6"/>
    <p:sldId id="418" r:id="rId7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4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E6E"/>
    <a:srgbClr val="E8F1F6"/>
    <a:srgbClr val="D0E5F8"/>
    <a:srgbClr val="FFBD8D"/>
    <a:srgbClr val="00C983"/>
    <a:srgbClr val="FFFFFF"/>
    <a:srgbClr val="1B75A6"/>
    <a:srgbClr val="5B9BD5"/>
    <a:srgbClr val="E1EDF3"/>
    <a:srgbClr val="108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370" autoAdjust="0"/>
  </p:normalViewPr>
  <p:slideViewPr>
    <p:cSldViewPr>
      <p:cViewPr varScale="1">
        <p:scale>
          <a:sx n="86" d="100"/>
          <a:sy n="86" d="100"/>
        </p:scale>
        <p:origin x="2154" y="66"/>
      </p:cViewPr>
      <p:guideLst>
        <p:guide orient="horz" pos="2880"/>
        <p:guide pos="14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A2050-623C-4E71-A1DF-534AA49173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F83A1-5F0E-44B2-A666-4B926F507F0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30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BE28C-12E3-46B5-BAA0-2B2A1F6FCB5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BF8E2-207B-4138-9F7A-74EC982BFB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83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92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3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65CC-C324-03A8-DB5C-7AC591C2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0CC02-4470-82EF-E104-B97F13E6F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ECA1B-CFB8-AD6B-4D7A-4B6438B97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C6CFB-CE25-8371-7780-226E4A886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38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3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D693-5498-F9C9-7D3D-8A19F9EB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4B349-5E99-696D-A0C4-D5FAF9E37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C1BC2-302F-B254-B4E6-7976712B6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AF7EC-7122-F80B-6FB5-6F7670EB0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5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C5C72-AC37-25F3-4EC5-B3842554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369C0-7457-20CB-1464-4EE820B6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A99E5-F474-9897-FA7D-53973F6F6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31AC-AF7A-704F-1799-F30DC37CE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36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12" y="326500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595" y="326104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397" y="326104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13" y="325469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44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394" y="326739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493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694" y="32546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3EB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43" y="32546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42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43" y="329279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3EB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592" y="325469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517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867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469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6469" y="989252"/>
            <a:ext cx="2377160" cy="1162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632" y="1033118"/>
            <a:ext cx="4248835" cy="1720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995" y="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2839" y="205752"/>
            <a:ext cx="2133599" cy="61447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33422" y="1351099"/>
            <a:ext cx="4330930" cy="1015663"/>
            <a:chOff x="171449" y="1270234"/>
            <a:chExt cx="4330930" cy="1015663"/>
          </a:xfrm>
        </p:grpSpPr>
        <p:sp>
          <p:nvSpPr>
            <p:cNvPr id="5" name="object 5"/>
            <p:cNvSpPr/>
            <p:nvPr/>
          </p:nvSpPr>
          <p:spPr>
            <a:xfrm>
              <a:off x="171449" y="1270234"/>
              <a:ext cx="4330930" cy="958029"/>
            </a:xfrm>
            <a:custGeom>
              <a:avLst/>
              <a:gdLst/>
              <a:ahLst/>
              <a:cxnLst/>
              <a:rect l="l" t="t" r="r" b="b"/>
              <a:pathLst>
                <a:path w="4432935" h="706755">
                  <a:moveTo>
                    <a:pt x="4432566" y="44424"/>
                  </a:moveTo>
                  <a:lnTo>
                    <a:pt x="4431271" y="44424"/>
                  </a:lnTo>
                  <a:lnTo>
                    <a:pt x="4428566" y="31076"/>
                  </a:lnTo>
                  <a:lnTo>
                    <a:pt x="4417644" y="14922"/>
                  </a:lnTo>
                  <a:lnTo>
                    <a:pt x="4401502" y="4013"/>
                  </a:lnTo>
                  <a:lnTo>
                    <a:pt x="4381766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655510"/>
                  </a:lnTo>
                  <a:lnTo>
                    <a:pt x="4013" y="675233"/>
                  </a:lnTo>
                  <a:lnTo>
                    <a:pt x="14922" y="691388"/>
                  </a:lnTo>
                  <a:lnTo>
                    <a:pt x="31076" y="702297"/>
                  </a:lnTo>
                  <a:lnTo>
                    <a:pt x="50812" y="706310"/>
                  </a:lnTo>
                  <a:lnTo>
                    <a:pt x="4381766" y="706310"/>
                  </a:lnTo>
                  <a:lnTo>
                    <a:pt x="4401502" y="702297"/>
                  </a:lnTo>
                  <a:lnTo>
                    <a:pt x="4417644" y="691388"/>
                  </a:lnTo>
                  <a:lnTo>
                    <a:pt x="4428566" y="675233"/>
                  </a:lnTo>
                  <a:lnTo>
                    <a:pt x="4432566" y="655510"/>
                  </a:lnTo>
                  <a:lnTo>
                    <a:pt x="4432566" y="82384"/>
                  </a:lnTo>
                  <a:lnTo>
                    <a:pt x="4432566" y="50812"/>
                  </a:lnTo>
                  <a:lnTo>
                    <a:pt x="4432566" y="44424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0792" y="1270234"/>
              <a:ext cx="41137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SELF SUPERVISED LEARNING </a:t>
              </a:r>
              <a:r>
                <a:rPr lang="fr-FR" sz="2000" b="1" dirty="0" err="1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with</a:t>
              </a:r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 GRAPH NEURAL NETWORK for </a:t>
              </a:r>
              <a:r>
                <a:rPr lang="fr-FR" sz="2000" b="1" dirty="0" err="1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bio-medical</a:t>
              </a:r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 data</a:t>
              </a:r>
              <a:endPara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1108070" y="2556160"/>
            <a:ext cx="2381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</a:t>
            </a:r>
            <a:r>
              <a:rPr lang="fr-F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Israe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GHIZI</a:t>
            </a:r>
          </a:p>
          <a:p>
            <a:pPr algn="ctr"/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Encadré par : Pr. Yousef EL MOURABIT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1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2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6629" y="363456"/>
            <a:ext cx="3993712" cy="2262609"/>
            <a:chOff x="1015285" y="812413"/>
            <a:chExt cx="6730048" cy="41986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2021068" y="820696"/>
              <a:ext cx="5724265" cy="943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124E6E"/>
                  </a:solidFill>
                  <a:latin typeface="Bahnschrift Condensed" panose="020B0502040204020203" pitchFamily="34" charset="0"/>
                </a:rPr>
                <a:t>Introduction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12413"/>
              <a:ext cx="1034473" cy="4198697"/>
              <a:chOff x="1015285" y="812413"/>
              <a:chExt cx="1034473" cy="419869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21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4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24E6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7"/>
                  <a:ext cx="1034473" cy="1034474"/>
                </a:xfrm>
                <a:prstGeom prst="ellipse">
                  <a:avLst/>
                </a:prstGeom>
                <a:solidFill>
                  <a:srgbClr val="124E6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104784" y="836564"/>
                <a:ext cx="835250" cy="856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01</a:t>
                </a: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600075" y="816157"/>
            <a:ext cx="3993712" cy="2144846"/>
            <a:chOff x="1015285" y="812413"/>
            <a:chExt cx="6730048" cy="419869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2021068" y="820696"/>
              <a:ext cx="5724265" cy="903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1B75A6"/>
                  </a:solidFill>
                  <a:latin typeface="Bahnschrift Condensed" panose="020B0502040204020203" pitchFamily="34" charset="0"/>
                </a:rPr>
                <a:t>Problématique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12413"/>
              <a:ext cx="1034473" cy="4198697"/>
              <a:chOff x="1015285" y="812413"/>
              <a:chExt cx="1034473" cy="4198697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28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4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B75A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6"/>
                  <a:ext cx="1034473" cy="1034475"/>
                </a:xfrm>
                <a:prstGeom prst="ellipse">
                  <a:avLst/>
                </a:prstGeom>
                <a:solidFill>
                  <a:srgbClr val="1B75A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121127" y="871804"/>
                <a:ext cx="835248" cy="903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02</a:t>
                </a: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1081048" y="1339836"/>
            <a:ext cx="3389036" cy="1931267"/>
            <a:chOff x="1015285" y="675802"/>
            <a:chExt cx="5766860" cy="433530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1971488" y="675802"/>
              <a:ext cx="4810657" cy="1001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300" dirty="0">
                  <a:solidFill>
                    <a:schemeClr val="accent2">
                      <a:lumMod val="75000"/>
                    </a:schemeClr>
                  </a:solidFill>
                  <a:latin typeface="Bahnschrift Condensed" panose="020B0502040204020203" pitchFamily="34" charset="0"/>
                </a:rPr>
                <a:t>Travail effectué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03107"/>
              <a:ext cx="1034473" cy="4208003"/>
              <a:chOff x="1015285" y="803107"/>
              <a:chExt cx="1034473" cy="420800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35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3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6"/>
                  <a:ext cx="1034473" cy="1034475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064452" y="803107"/>
                <a:ext cx="927647" cy="1036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03</a:t>
                </a:r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1558063" y="1885679"/>
            <a:ext cx="3127959" cy="1367633"/>
            <a:chOff x="1015287" y="675802"/>
            <a:chExt cx="5231124" cy="37663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1971486" y="675802"/>
              <a:ext cx="4274925" cy="1186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200" dirty="0">
                  <a:solidFill>
                    <a:schemeClr val="accent6"/>
                  </a:solidFill>
                  <a:latin typeface="Bahnschrift Condensed" panose="020B0502040204020203" pitchFamily="34" charset="0"/>
                </a:rPr>
                <a:t>Travail en cours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7" y="754621"/>
              <a:ext cx="999646" cy="3687520"/>
              <a:chOff x="1015287" y="754621"/>
              <a:chExt cx="999646" cy="368752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7" y="812413"/>
                <a:ext cx="999646" cy="3629728"/>
                <a:chOff x="1015287" y="812413"/>
                <a:chExt cx="999646" cy="3629728"/>
              </a:xfrm>
            </p:grpSpPr>
            <p:sp>
              <p:nvSpPr>
                <p:cNvPr id="42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3" cy="36297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7" y="812416"/>
                  <a:ext cx="999646" cy="120501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035896" y="754621"/>
                <a:ext cx="927647" cy="1271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04</a:t>
                </a:r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1" y="-16124"/>
            <a:ext cx="4610099" cy="374899"/>
            <a:chOff x="1" y="-16124"/>
            <a:chExt cx="4610099" cy="374899"/>
          </a:xfrm>
        </p:grpSpPr>
        <p:sp>
          <p:nvSpPr>
            <p:cNvPr id="45" name="object 2"/>
            <p:cNvSpPr/>
            <p:nvPr/>
          </p:nvSpPr>
          <p:spPr>
            <a:xfrm>
              <a:off x="1" y="0"/>
              <a:ext cx="4610099" cy="358775"/>
            </a:xfrm>
            <a:custGeom>
              <a:avLst/>
              <a:gdLst/>
              <a:ahLst/>
              <a:cxnLst/>
              <a:rect l="l" t="t" r="r" b="b"/>
              <a:pathLst>
                <a:path w="2304415" h="135890">
                  <a:moveTo>
                    <a:pt x="2303995" y="0"/>
                  </a:moveTo>
                  <a:lnTo>
                    <a:pt x="0" y="0"/>
                  </a:lnTo>
                  <a:lnTo>
                    <a:pt x="0" y="135648"/>
                  </a:lnTo>
                  <a:lnTo>
                    <a:pt x="2303995" y="13564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344" y="-16124"/>
              <a:ext cx="1407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object 14">
            <a:extLst>
              <a:ext uri="{FF2B5EF4-FFF2-40B4-BE49-F238E27FC236}">
                <a16:creationId xmlns:a16="http://schemas.microsoft.com/office/drawing/2014/main" id="{62C2C0F1-6B9C-76E3-8DC3-81966A03F8C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035697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1CDB-A52D-C441-0789-58FCE35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DC6613-C7F9-7ABD-85D7-4ECE8E8065D8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5129B405-4D4F-5FBC-7856-9F3176898463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3CEB796-E52E-55D0-FF8D-1CCD2BA9DAA4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F0C08B9-E2DD-D4C3-FD36-9356611510FD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376A2E6-FD61-6D66-8BC4-8C4691388C65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FC4000BB-6144-3D33-6B89-9FE2CA0EA7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2A8FAD1-D506-1208-9A0A-F49E44F30187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96C56C6-0939-659E-D6E3-DAB2562428D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EF73FF-D91A-B3C3-910B-7139448E2B48}"/>
              </a:ext>
            </a:extLst>
          </p:cNvPr>
          <p:cNvGrpSpPr/>
          <p:nvPr/>
        </p:nvGrpSpPr>
        <p:grpSpPr>
          <a:xfrm>
            <a:off x="2228850" y="0"/>
            <a:ext cx="2379560" cy="355964"/>
            <a:chOff x="2228850" y="0"/>
            <a:chExt cx="2379560" cy="355964"/>
          </a:xfrm>
        </p:grpSpPr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2E560CC2-1917-FB17-5310-675F2509199E}"/>
                </a:ext>
              </a:extLst>
            </p:cNvPr>
            <p:cNvSpPr/>
            <p:nvPr/>
          </p:nvSpPr>
          <p:spPr>
            <a:xfrm>
              <a:off x="2228850" y="0"/>
              <a:ext cx="2379560" cy="355964"/>
            </a:xfrm>
            <a:custGeom>
              <a:avLst/>
              <a:gdLst/>
              <a:ahLst/>
              <a:cxnLst/>
              <a:rect l="l" t="t" r="r" b="b"/>
              <a:pathLst>
                <a:path w="2304415" h="135890">
                  <a:moveTo>
                    <a:pt x="2303995" y="0"/>
                  </a:moveTo>
                  <a:lnTo>
                    <a:pt x="0" y="0"/>
                  </a:lnTo>
                  <a:lnTo>
                    <a:pt x="0" y="135648"/>
                  </a:lnTo>
                  <a:lnTo>
                    <a:pt x="2303995" y="13564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0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448592-954D-693B-56F9-88A12A992A93}"/>
                </a:ext>
              </a:extLst>
            </p:cNvPr>
            <p:cNvSpPr/>
            <p:nvPr/>
          </p:nvSpPr>
          <p:spPr>
            <a:xfrm>
              <a:off x="3067050" y="35800"/>
              <a:ext cx="151639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400"/>
                </a:spcBef>
              </a:pPr>
              <a:endParaRPr lang="en-US" sz="1200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DBAF4C-14C9-0720-9B16-EA1EE4A7A8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3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6BDC89A-B833-CC76-8E6C-2CDD0B68AB19}"/>
              </a:ext>
            </a:extLst>
          </p:cNvPr>
          <p:cNvSpPr txBox="1"/>
          <p:nvPr/>
        </p:nvSpPr>
        <p:spPr>
          <a:xfrm>
            <a:off x="64344" y="-16124"/>
            <a:ext cx="170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0"/>
              </a:spcBef>
            </a:pPr>
            <a:r>
              <a:rPr lang="en-US" dirty="0" err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Problématique</a:t>
            </a:r>
            <a:endParaRPr lang="en-US" dirty="0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383E5A-BC9E-9684-E055-497806BE7F61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4D70A-6EE6-E23C-B0C8-ECB76A11EB30}"/>
              </a:ext>
            </a:extLst>
          </p:cNvPr>
          <p:cNvSpPr txBox="1"/>
          <p:nvPr/>
        </p:nvSpPr>
        <p:spPr>
          <a:xfrm>
            <a:off x="239931" y="892175"/>
            <a:ext cx="4128154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200" dirty="0"/>
              <a:t>L’exploitation des Graph Neural Networks et l’apprentissage auto-supervisé pour extraire des représentations biologiques pertinentes à partir de données massives et peu annotées, afin d’améliorer la prédiction, la compréhension et la découverte de mécanismes biologiques complexes ?</a:t>
            </a:r>
          </a:p>
        </p:txBody>
      </p:sp>
    </p:spTree>
    <p:extLst>
      <p:ext uri="{BB962C8B-B14F-4D97-AF65-F5344CB8AC3E}">
        <p14:creationId xmlns:p14="http://schemas.microsoft.com/office/powerpoint/2010/main" val="2546125799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/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4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DC0E0E1-FD00-87E1-7779-CD525985AF2D}"/>
              </a:ext>
            </a:extLst>
          </p:cNvPr>
          <p:cNvSpPr txBox="1"/>
          <p:nvPr/>
        </p:nvSpPr>
        <p:spPr>
          <a:xfrm>
            <a:off x="64344" y="-16124"/>
            <a:ext cx="1783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Problématique</a:t>
            </a:r>
            <a:endParaRPr lang="en-US" dirty="0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B26C39-BCB3-BE62-EC06-C5BB164F880E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AE6CDA-6A88-AB65-A5EE-EF5AE72E5A59}"/>
              </a:ext>
            </a:extLst>
          </p:cNvPr>
          <p:cNvSpPr txBox="1"/>
          <p:nvPr/>
        </p:nvSpPr>
        <p:spPr>
          <a:xfrm>
            <a:off x="171450" y="1006490"/>
            <a:ext cx="4499064" cy="1447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Étiquetage limité et coûteux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Rareté des données biologique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Complexité et relations non linéaires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le manque de cadres professionnels standardisés pour l’étiquetage des bases de données </a:t>
            </a:r>
            <a:endParaRPr lang="fr-FR" altLang="en-US" sz="1200" dirty="0">
              <a:solidFill>
                <a:srgbClr val="124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90116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46A6-A4D6-8816-C82E-D62BCD19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249495-63C2-66E5-87DC-70A4ADD329FA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DFE9748E-13FC-B429-6230-49E6C7016357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8C07159-4587-3A8E-1E94-02AB91F48D8D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3DBD0E5-B56D-D5D1-151A-35AE96A66F03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0F7D46D-A1D0-74F6-F4AD-81F25CC2645B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688C2102-31CC-D23B-0B57-F12EFCE9317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A91B025-6000-2B25-B28F-88E681297A84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F4ADEA5-8FFD-A655-F9FB-2F6E38E76E2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96AB966-EFCD-AA92-E43B-77971EEE0BC1}"/>
              </a:ext>
            </a:extLst>
          </p:cNvPr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191C1C-80A5-77AE-94B6-56B0690E73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5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76039E5-BACC-5D1C-B4CB-B510F4E95AC5}"/>
              </a:ext>
            </a:extLst>
          </p:cNvPr>
          <p:cNvSpPr txBox="1"/>
          <p:nvPr/>
        </p:nvSpPr>
        <p:spPr>
          <a:xfrm>
            <a:off x="64344" y="-16124"/>
            <a:ext cx="178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Travail effectué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C1270D-6C03-13BB-FE57-4B5C87CE999D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147AC4-31CD-8F05-31FA-A07FBFD5EC76}"/>
              </a:ext>
            </a:extLst>
          </p:cNvPr>
          <p:cNvSpPr txBox="1"/>
          <p:nvPr/>
        </p:nvSpPr>
        <p:spPr>
          <a:xfrm>
            <a:off x="16313" y="369332"/>
            <a:ext cx="4499064" cy="311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Implémentation du modèle de SSL et GNN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Expérimentation avec d’autres techniques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Jensen-Shannon</a:t>
            </a:r>
            <a:endParaRPr lang="en-US" sz="12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/>
              <a:t>InfoNCE</a:t>
            </a:r>
            <a:r>
              <a:rPr lang="en-US" sz="1200" dirty="0"/>
              <a:t> (NT-XENT) loss in contrastive learning, with Wasserstein regularization</a:t>
            </a:r>
            <a:endParaRPr lang="fr-FR" sz="12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Diffèrent technique d’augmentation</a:t>
            </a:r>
          </a:p>
          <a:p>
            <a:pPr lvl="1" algn="just">
              <a:lnSpc>
                <a:spcPct val="150000"/>
              </a:lnSpc>
              <a:defRPr/>
            </a:pPr>
            <a:r>
              <a:rPr lang="fr-FR" sz="1200" b="1" dirty="0">
                <a:solidFill>
                  <a:srgbClr val="FF0000"/>
                </a:solidFill>
              </a:rPr>
              <a:t>Résultat : Aucune optimisation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Essayer d’optimiser en utilisant d’autre hyperparamètre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Etude documentaire du domaine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L’ écriture de l’article des premiers résultats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28944966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9DB4-8099-87EC-36C2-8CA9E467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557FA8-3562-F600-0CE6-F1E543233500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1EB1A993-4C77-78C9-3407-143A0CCCB526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931BD92-C7FC-3870-0B90-5CB79A7C1317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7AA217E-B44D-9BF0-AB4E-0122CABBCBB8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4E72554-2B1A-0C29-E30B-D2AC9720CA24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F233A6C8-E950-D0BF-4F30-A0B1177CAD7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57C4579-153C-33A5-A452-FD79B061E084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87012F2-3E33-2693-5742-290ACD01431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4DB8F56-8058-5D2A-3224-AF0964893C42}"/>
              </a:ext>
            </a:extLst>
          </p:cNvPr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E3188DA-91FD-EA1A-ACFB-789BCA7844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6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B28B6C4-BF80-C723-FD13-C27EA06DA42F}"/>
              </a:ext>
            </a:extLst>
          </p:cNvPr>
          <p:cNvSpPr txBox="1"/>
          <p:nvPr/>
        </p:nvSpPr>
        <p:spPr>
          <a:xfrm>
            <a:off x="64344" y="-16124"/>
            <a:ext cx="178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Travail en cours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134BE9-FDAC-90B7-4864-E00441966839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49A94D-7B44-197F-DFCB-84CEA7EB9739}"/>
              </a:ext>
            </a:extLst>
          </p:cNvPr>
          <p:cNvSpPr txBox="1"/>
          <p:nvPr/>
        </p:nvSpPr>
        <p:spPr>
          <a:xfrm>
            <a:off x="138321" y="511175"/>
            <a:ext cx="3890327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Etude documentaire du domaine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L’ écriture d’un SLR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Modification du code en utilisant OPTUNA librairie pour optimiser les hyperparamètre automatiquement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Recherche d’une piste de recherche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A300748-AD65-8039-CFAA-FD690403BC30}"/>
              </a:ext>
            </a:extLst>
          </p:cNvPr>
          <p:cNvSpPr txBox="1"/>
          <p:nvPr/>
        </p:nvSpPr>
        <p:spPr>
          <a:xfrm>
            <a:off x="190825" y="2314107"/>
            <a:ext cx="3890327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rgbClr val="FF0000"/>
                </a:solidFill>
              </a:rPr>
              <a:t>Modification ajouté </a:t>
            </a:r>
          </a:p>
        </p:txBody>
      </p:sp>
    </p:spTree>
    <p:extLst>
      <p:ext uri="{BB962C8B-B14F-4D97-AF65-F5344CB8AC3E}">
        <p14:creationId xmlns:p14="http://schemas.microsoft.com/office/powerpoint/2010/main" val="335779056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6643</TotalTime>
  <Words>491</Words>
  <Application>Microsoft Office PowerPoint</Application>
  <PresentationFormat>Personnalisé</PresentationFormat>
  <Paragraphs>76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5" baseType="lpstr">
      <vt:lpstr>Arial</vt:lpstr>
      <vt:lpstr>Bahnschrift Condensed</vt:lpstr>
      <vt:lpstr>Bahnschrift SemiBold</vt:lpstr>
      <vt:lpstr>Bahnschrift SemiBold Condensed</vt:lpstr>
      <vt:lpstr>Bahnschrift SemiLight SemiConde</vt:lpstr>
      <vt:lpstr>Calibri</vt:lpstr>
      <vt:lpstr>Sitka Display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EL GHIZI ABDALLAH</cp:lastModifiedBy>
  <cp:revision>961</cp:revision>
  <dcterms:created xsi:type="dcterms:W3CDTF">2024-06-21T11:49:16Z</dcterms:created>
  <dcterms:modified xsi:type="dcterms:W3CDTF">2025-11-25T15:50:21Z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2024-06-21T00:00:00Z</vt:filetime>
  </property>
</Properties>
</file>